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DM Sans Bold" charset="1" panose="00000000000000000000"/>
      <p:regular r:id="rId18"/>
    </p:embeddedFont>
    <p:embeddedFont>
      <p:font typeface="Inter Medium" charset="1" panose="02000503000000020004"/>
      <p:regular r:id="rId19"/>
    </p:embeddedFont>
    <p:embeddedFont>
      <p:font typeface="Inter Bold" charset="1" panose="0200050300000002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3129258"/>
            <a:ext cx="9445523" cy="267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Logistic Regression: Predicting Probabilities and Classifying Outcomes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6145711"/>
            <a:ext cx="9445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Understanding how machines learn to make yes/no decisions from data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559271"/>
            <a:ext cx="9144591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What is Machine Learning?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2889494"/>
            <a:ext cx="4580934" cy="3448202"/>
            <a:chOff x="0" y="0"/>
            <a:chExt cx="6107913" cy="45976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07811" cy="4597527"/>
            </a:xfrm>
            <a:custGeom>
              <a:avLst/>
              <a:gdLst/>
              <a:ahLst/>
              <a:cxnLst/>
              <a:rect r="r" b="b" t="t" l="l"/>
              <a:pathLst>
                <a:path h="4597527" w="6107811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051169" y="0"/>
                  </a:lnTo>
                  <a:cubicBezTo>
                    <a:pt x="6082538" y="0"/>
                    <a:pt x="6107811" y="25400"/>
                    <a:pt x="6107811" y="56642"/>
                  </a:cubicBezTo>
                  <a:lnTo>
                    <a:pt x="6107811" y="4540885"/>
                  </a:lnTo>
                  <a:cubicBezTo>
                    <a:pt x="6107811" y="4572254"/>
                    <a:pt x="6082411" y="4597527"/>
                    <a:pt x="6051169" y="4597527"/>
                  </a:cubicBezTo>
                  <a:lnTo>
                    <a:pt x="56642" y="4597527"/>
                  </a:lnTo>
                  <a:cubicBezTo>
                    <a:pt x="25273" y="4597527"/>
                    <a:pt x="0" y="4572127"/>
                    <a:pt x="0" y="4540885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75759" y="3163491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Learning from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5759" y="3700310"/>
            <a:ext cx="4013892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Computer systems that improve performance through experience without explicit programming instructions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856684" y="2889494"/>
            <a:ext cx="4581077" cy="3448202"/>
            <a:chOff x="0" y="0"/>
            <a:chExt cx="6108103" cy="45976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08065" cy="4597527"/>
            </a:xfrm>
            <a:custGeom>
              <a:avLst/>
              <a:gdLst/>
              <a:ahLst/>
              <a:cxnLst/>
              <a:rect r="r" b="b" t="t" l="l"/>
              <a:pathLst>
                <a:path h="4597527" w="610806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051423" y="0"/>
                  </a:lnTo>
                  <a:cubicBezTo>
                    <a:pt x="6082792" y="0"/>
                    <a:pt x="6108065" y="25400"/>
                    <a:pt x="6108065" y="56642"/>
                  </a:cubicBezTo>
                  <a:lnTo>
                    <a:pt x="6108065" y="4540885"/>
                  </a:lnTo>
                  <a:cubicBezTo>
                    <a:pt x="6108065" y="4572254"/>
                    <a:pt x="6082665" y="4597527"/>
                    <a:pt x="6051423" y="4597527"/>
                  </a:cubicBezTo>
                  <a:lnTo>
                    <a:pt x="56642" y="4597527"/>
                  </a:lnTo>
                  <a:cubicBezTo>
                    <a:pt x="25273" y="4597527"/>
                    <a:pt x="0" y="4572127"/>
                    <a:pt x="0" y="4540885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140206" y="3163491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Pattern Recognition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40206" y="3700310"/>
            <a:ext cx="4014045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Algorithms identify patterns and relationships within datasets to make predictions or decisions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6621218"/>
            <a:ext cx="9445523" cy="2087318"/>
            <a:chOff x="0" y="0"/>
            <a:chExt cx="12594031" cy="27830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94082" cy="2783078"/>
            </a:xfrm>
            <a:custGeom>
              <a:avLst/>
              <a:gdLst/>
              <a:ahLst/>
              <a:cxnLst/>
              <a:rect r="r" b="b" t="t" l="l"/>
              <a:pathLst>
                <a:path h="2783078" w="1259408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2537313" y="0"/>
                  </a:lnTo>
                  <a:cubicBezTo>
                    <a:pt x="12568682" y="0"/>
                    <a:pt x="12594082" y="25400"/>
                    <a:pt x="12594082" y="56769"/>
                  </a:cubicBezTo>
                  <a:lnTo>
                    <a:pt x="12594082" y="2726309"/>
                  </a:lnTo>
                  <a:cubicBezTo>
                    <a:pt x="12594082" y="2757678"/>
                    <a:pt x="12568682" y="2783078"/>
                    <a:pt x="12537313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75759" y="6895205"/>
            <a:ext cx="3815658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Adaptive Performance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5759" y="7432034"/>
            <a:ext cx="887849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Models continuously refine their accuracy as they process more training data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260129"/>
            <a:ext cx="966772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What is Logistic Regression?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909297"/>
            <a:ext cx="10355161" cy="5779589"/>
            <a:chOff x="0" y="0"/>
            <a:chExt cx="13806881" cy="770611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806932" cy="7706106"/>
            </a:xfrm>
            <a:custGeom>
              <a:avLst/>
              <a:gdLst/>
              <a:ahLst/>
              <a:cxnLst/>
              <a:rect r="r" b="b" t="t" l="l"/>
              <a:pathLst>
                <a:path h="7706106" w="13806932">
                  <a:moveTo>
                    <a:pt x="0" y="0"/>
                  </a:moveTo>
                  <a:lnTo>
                    <a:pt x="13806932" y="0"/>
                  </a:lnTo>
                  <a:lnTo>
                    <a:pt x="13806932" y="7706106"/>
                  </a:lnTo>
                  <a:lnTo>
                    <a:pt x="0" y="7706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" r="0" b="-25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48677" y="3271685"/>
            <a:ext cx="4137269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Statistical Classification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8677" y="3921919"/>
            <a:ext cx="5256457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 powerful statistical model designed specifically for </a:t>
            </a:r>
            <a:r>
              <a:rPr lang="en-US" sz="2187" b="true">
                <a:solidFill>
                  <a:srgbClr val="1C9770"/>
                </a:solidFill>
                <a:latin typeface="Inter Medium"/>
                <a:ea typeface="Inter Medium"/>
                <a:cs typeface="Inter Medium"/>
                <a:sym typeface="Inter Medium"/>
              </a:rPr>
              <a:t>binary classification problems</a:t>
            </a: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, predicting one of two possible outcomes.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8677" y="5991520"/>
            <a:ext cx="5256457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Despite its name including "regression," it's fundamentally a classification algorithm that models the probability of a given event occurring.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238823"/>
            <a:ext cx="1381720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Logistic Regression vs. Linear Regression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3691833"/>
            <a:ext cx="8048034" cy="4356344"/>
            <a:chOff x="0" y="0"/>
            <a:chExt cx="10730713" cy="58084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10679938" cy="5757672"/>
            </a:xfrm>
            <a:custGeom>
              <a:avLst/>
              <a:gdLst/>
              <a:ahLst/>
              <a:cxnLst/>
              <a:rect r="r" b="b" t="t" l="l"/>
              <a:pathLst>
                <a:path h="5757672" w="10679938">
                  <a:moveTo>
                    <a:pt x="0" y="243840"/>
                  </a:moveTo>
                  <a:cubicBezTo>
                    <a:pt x="0" y="109220"/>
                    <a:pt x="109601" y="0"/>
                    <a:pt x="244856" y="0"/>
                  </a:cubicBezTo>
                  <a:lnTo>
                    <a:pt x="10435082" y="0"/>
                  </a:lnTo>
                  <a:cubicBezTo>
                    <a:pt x="10570337" y="0"/>
                    <a:pt x="10679938" y="109220"/>
                    <a:pt x="10679938" y="243840"/>
                  </a:cubicBezTo>
                  <a:lnTo>
                    <a:pt x="10679938" y="5513832"/>
                  </a:lnTo>
                  <a:cubicBezTo>
                    <a:pt x="10679938" y="5648452"/>
                    <a:pt x="10570337" y="5757672"/>
                    <a:pt x="10435082" y="5757672"/>
                  </a:cubicBezTo>
                  <a:lnTo>
                    <a:pt x="244856" y="5757672"/>
                  </a:lnTo>
                  <a:cubicBezTo>
                    <a:pt x="109601" y="5757672"/>
                    <a:pt x="0" y="5648452"/>
                    <a:pt x="0" y="55138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30738" cy="5808472"/>
            </a:xfrm>
            <a:custGeom>
              <a:avLst/>
              <a:gdLst/>
              <a:ahLst/>
              <a:cxnLst/>
              <a:rect r="r" b="b" t="t" l="l"/>
              <a:pathLst>
                <a:path h="5808472" w="10730738">
                  <a:moveTo>
                    <a:pt x="0" y="269240"/>
                  </a:moveTo>
                  <a:cubicBezTo>
                    <a:pt x="0" y="120396"/>
                    <a:pt x="121031" y="0"/>
                    <a:pt x="270256" y="0"/>
                  </a:cubicBezTo>
                  <a:lnTo>
                    <a:pt x="10460482" y="0"/>
                  </a:lnTo>
                  <a:lnTo>
                    <a:pt x="10460482" y="25400"/>
                  </a:lnTo>
                  <a:lnTo>
                    <a:pt x="10460482" y="0"/>
                  </a:lnTo>
                  <a:cubicBezTo>
                    <a:pt x="10609580" y="0"/>
                    <a:pt x="10730738" y="120396"/>
                    <a:pt x="10730738" y="269240"/>
                  </a:cubicBezTo>
                  <a:lnTo>
                    <a:pt x="10705338" y="269240"/>
                  </a:lnTo>
                  <a:lnTo>
                    <a:pt x="10730738" y="269240"/>
                  </a:lnTo>
                  <a:lnTo>
                    <a:pt x="10730738" y="5539232"/>
                  </a:lnTo>
                  <a:lnTo>
                    <a:pt x="10705338" y="5539232"/>
                  </a:lnTo>
                  <a:lnTo>
                    <a:pt x="10730738" y="5539232"/>
                  </a:lnTo>
                  <a:cubicBezTo>
                    <a:pt x="10730738" y="5688076"/>
                    <a:pt x="10609707" y="5808472"/>
                    <a:pt x="10460482" y="5808472"/>
                  </a:cubicBezTo>
                  <a:lnTo>
                    <a:pt x="10460482" y="5783072"/>
                  </a:lnTo>
                  <a:lnTo>
                    <a:pt x="10460482" y="5808472"/>
                  </a:lnTo>
                  <a:lnTo>
                    <a:pt x="270256" y="5808472"/>
                  </a:lnTo>
                  <a:lnTo>
                    <a:pt x="270256" y="5783072"/>
                  </a:lnTo>
                  <a:lnTo>
                    <a:pt x="270256" y="5808472"/>
                  </a:lnTo>
                  <a:cubicBezTo>
                    <a:pt x="121031" y="5808472"/>
                    <a:pt x="0" y="5688076"/>
                    <a:pt x="0" y="553923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5539232"/>
                  </a:lnTo>
                  <a:lnTo>
                    <a:pt x="25400" y="5539232"/>
                  </a:lnTo>
                  <a:lnTo>
                    <a:pt x="50800" y="5539232"/>
                  </a:lnTo>
                  <a:cubicBezTo>
                    <a:pt x="50800" y="5659755"/>
                    <a:pt x="148971" y="5757672"/>
                    <a:pt x="270256" y="5757672"/>
                  </a:cubicBezTo>
                  <a:lnTo>
                    <a:pt x="10460482" y="5757672"/>
                  </a:lnTo>
                  <a:cubicBezTo>
                    <a:pt x="10581767" y="5757672"/>
                    <a:pt x="10679938" y="5659755"/>
                    <a:pt x="10679938" y="5539232"/>
                  </a:cubicBezTo>
                  <a:lnTo>
                    <a:pt x="10679938" y="269240"/>
                  </a:lnTo>
                  <a:cubicBezTo>
                    <a:pt x="10679938" y="148717"/>
                    <a:pt x="10581767" y="50800"/>
                    <a:pt x="10460482" y="50800"/>
                  </a:cubicBezTo>
                  <a:lnTo>
                    <a:pt x="270256" y="50800"/>
                  </a:lnTo>
                  <a:lnTo>
                    <a:pt x="270256" y="25400"/>
                  </a:lnTo>
                  <a:lnTo>
                    <a:pt x="270256" y="50800"/>
                  </a:lnTo>
                  <a:cubicBezTo>
                    <a:pt x="148971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1C977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4138" y="3710883"/>
            <a:ext cx="152400" cy="4318244"/>
            <a:chOff x="0" y="0"/>
            <a:chExt cx="203200" cy="57576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5757672"/>
            </a:xfrm>
            <a:custGeom>
              <a:avLst/>
              <a:gdLst/>
              <a:ahLst/>
              <a:cxnLst/>
              <a:rect r="r" b="b" t="t" l="l"/>
              <a:pathLst>
                <a:path h="5757672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5700903"/>
                  </a:lnTo>
                  <a:cubicBezTo>
                    <a:pt x="203200" y="5732272"/>
                    <a:pt x="177800" y="5757672"/>
                    <a:pt x="146431" y="5757672"/>
                  </a:cubicBezTo>
                  <a:lnTo>
                    <a:pt x="56769" y="5757672"/>
                  </a:lnTo>
                  <a:cubicBezTo>
                    <a:pt x="25400" y="5757672"/>
                    <a:pt x="0" y="5732272"/>
                    <a:pt x="0" y="5700903"/>
                  </a:cubicBez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28159" y="4022969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Linear Regression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159" y="4559798"/>
            <a:ext cx="7252392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Purpose:</a:t>
            </a: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Predicts continuous numerical values (e.g., house prices, temperature)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8159" y="5637162"/>
            <a:ext cx="7252392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Output:</a:t>
            </a: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Any real number from negative to positive infinity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8159" y="6714534"/>
            <a:ext cx="7252392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Model:</a:t>
            </a: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Uses a straight line to fit data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66634" y="3691833"/>
            <a:ext cx="8048177" cy="4356344"/>
            <a:chOff x="0" y="0"/>
            <a:chExt cx="10730903" cy="58084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00" y="25400"/>
              <a:ext cx="10680192" cy="5757672"/>
            </a:xfrm>
            <a:custGeom>
              <a:avLst/>
              <a:gdLst/>
              <a:ahLst/>
              <a:cxnLst/>
              <a:rect r="r" b="b" t="t" l="l"/>
              <a:pathLst>
                <a:path h="5757672" w="10680192">
                  <a:moveTo>
                    <a:pt x="0" y="243840"/>
                  </a:moveTo>
                  <a:cubicBezTo>
                    <a:pt x="0" y="109220"/>
                    <a:pt x="109601" y="0"/>
                    <a:pt x="244856" y="0"/>
                  </a:cubicBezTo>
                  <a:lnTo>
                    <a:pt x="10435337" y="0"/>
                  </a:lnTo>
                  <a:cubicBezTo>
                    <a:pt x="10570591" y="0"/>
                    <a:pt x="10680192" y="109220"/>
                    <a:pt x="10680192" y="243840"/>
                  </a:cubicBezTo>
                  <a:lnTo>
                    <a:pt x="10680192" y="5513832"/>
                  </a:lnTo>
                  <a:cubicBezTo>
                    <a:pt x="10680192" y="5648452"/>
                    <a:pt x="10570591" y="5757672"/>
                    <a:pt x="10435337" y="5757672"/>
                  </a:cubicBezTo>
                  <a:lnTo>
                    <a:pt x="244856" y="5757672"/>
                  </a:lnTo>
                  <a:cubicBezTo>
                    <a:pt x="109601" y="5757672"/>
                    <a:pt x="0" y="5648452"/>
                    <a:pt x="0" y="55138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30992" cy="5808472"/>
            </a:xfrm>
            <a:custGeom>
              <a:avLst/>
              <a:gdLst/>
              <a:ahLst/>
              <a:cxnLst/>
              <a:rect r="r" b="b" t="t" l="l"/>
              <a:pathLst>
                <a:path h="5808472" w="10730992">
                  <a:moveTo>
                    <a:pt x="0" y="269240"/>
                  </a:moveTo>
                  <a:cubicBezTo>
                    <a:pt x="0" y="120396"/>
                    <a:pt x="121031" y="0"/>
                    <a:pt x="270256" y="0"/>
                  </a:cubicBezTo>
                  <a:lnTo>
                    <a:pt x="10460737" y="0"/>
                  </a:lnTo>
                  <a:lnTo>
                    <a:pt x="10460737" y="25400"/>
                  </a:lnTo>
                  <a:lnTo>
                    <a:pt x="10460737" y="0"/>
                  </a:lnTo>
                  <a:cubicBezTo>
                    <a:pt x="10609835" y="0"/>
                    <a:pt x="10730992" y="120396"/>
                    <a:pt x="10730992" y="269240"/>
                  </a:cubicBezTo>
                  <a:lnTo>
                    <a:pt x="10705592" y="269240"/>
                  </a:lnTo>
                  <a:lnTo>
                    <a:pt x="10730992" y="269240"/>
                  </a:lnTo>
                  <a:lnTo>
                    <a:pt x="10730992" y="5539232"/>
                  </a:lnTo>
                  <a:lnTo>
                    <a:pt x="10705592" y="5539232"/>
                  </a:lnTo>
                  <a:lnTo>
                    <a:pt x="10730992" y="5539232"/>
                  </a:lnTo>
                  <a:cubicBezTo>
                    <a:pt x="10730992" y="5688076"/>
                    <a:pt x="10609962" y="5808472"/>
                    <a:pt x="10460737" y="5808472"/>
                  </a:cubicBezTo>
                  <a:lnTo>
                    <a:pt x="10460737" y="5783072"/>
                  </a:lnTo>
                  <a:lnTo>
                    <a:pt x="10460737" y="5808472"/>
                  </a:lnTo>
                  <a:lnTo>
                    <a:pt x="270256" y="5808472"/>
                  </a:lnTo>
                  <a:lnTo>
                    <a:pt x="270256" y="5783072"/>
                  </a:lnTo>
                  <a:lnTo>
                    <a:pt x="270256" y="5808472"/>
                  </a:lnTo>
                  <a:cubicBezTo>
                    <a:pt x="121031" y="5808472"/>
                    <a:pt x="0" y="5688076"/>
                    <a:pt x="0" y="553923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5539232"/>
                  </a:lnTo>
                  <a:lnTo>
                    <a:pt x="25400" y="5539232"/>
                  </a:lnTo>
                  <a:lnTo>
                    <a:pt x="50800" y="5539232"/>
                  </a:lnTo>
                  <a:cubicBezTo>
                    <a:pt x="50800" y="5659755"/>
                    <a:pt x="148971" y="5757672"/>
                    <a:pt x="270256" y="5757672"/>
                  </a:cubicBezTo>
                  <a:lnTo>
                    <a:pt x="10460737" y="5757672"/>
                  </a:lnTo>
                  <a:cubicBezTo>
                    <a:pt x="10582022" y="5757672"/>
                    <a:pt x="10680192" y="5659755"/>
                    <a:pt x="10680192" y="5539232"/>
                  </a:cubicBezTo>
                  <a:lnTo>
                    <a:pt x="10680192" y="269240"/>
                  </a:lnTo>
                  <a:cubicBezTo>
                    <a:pt x="10680192" y="148717"/>
                    <a:pt x="10582022" y="50800"/>
                    <a:pt x="10460737" y="50800"/>
                  </a:cubicBezTo>
                  <a:lnTo>
                    <a:pt x="270256" y="50800"/>
                  </a:lnTo>
                  <a:lnTo>
                    <a:pt x="270256" y="25400"/>
                  </a:lnTo>
                  <a:lnTo>
                    <a:pt x="270256" y="50800"/>
                  </a:lnTo>
                  <a:cubicBezTo>
                    <a:pt x="148971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93CB5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247584" y="3710883"/>
            <a:ext cx="152400" cy="4318244"/>
            <a:chOff x="0" y="0"/>
            <a:chExt cx="203200" cy="57576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3200" cy="5757672"/>
            </a:xfrm>
            <a:custGeom>
              <a:avLst/>
              <a:gdLst/>
              <a:ahLst/>
              <a:cxnLst/>
              <a:rect r="r" b="b" t="t" l="l"/>
              <a:pathLst>
                <a:path h="5757672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5700903"/>
                  </a:lnTo>
                  <a:cubicBezTo>
                    <a:pt x="203200" y="5732272"/>
                    <a:pt x="177800" y="5757672"/>
                    <a:pt x="146431" y="5757672"/>
                  </a:cubicBezTo>
                  <a:lnTo>
                    <a:pt x="56769" y="5757672"/>
                  </a:lnTo>
                  <a:cubicBezTo>
                    <a:pt x="25400" y="5757672"/>
                    <a:pt x="0" y="5732272"/>
                    <a:pt x="0" y="5700903"/>
                  </a:cubicBezTo>
                  <a:close/>
                </a:path>
              </a:pathLst>
            </a:custGeom>
            <a:solidFill>
              <a:srgbClr val="93CB5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721606" y="4022969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Logistic Regression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21606" y="4559798"/>
            <a:ext cx="725254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Purpose:</a:t>
            </a: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Predicts probability of binary outcomes (e.g., yes/no, spam/not spam)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21606" y="5637162"/>
            <a:ext cx="725254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Output:</a:t>
            </a: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Probability between 0 and 1 representing class likelihood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21606" y="6714534"/>
            <a:ext cx="725254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Model:</a:t>
            </a: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Uses an S-shaped sigmoid curve for transformation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95658"/>
            <a:ext cx="10506818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How Logistic Regression Works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467718"/>
            <a:ext cx="1417587" cy="1701108"/>
            <a:chOff x="0" y="0"/>
            <a:chExt cx="1890116" cy="226814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890141" cy="2268093"/>
            </a:xfrm>
            <a:custGeom>
              <a:avLst/>
              <a:gdLst/>
              <a:ahLst/>
              <a:cxnLst/>
              <a:rect r="r" b="b" t="t" l="l"/>
              <a:pathLst>
                <a:path h="2268093" w="1890141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5" r="1" b="-5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693346" y="2741714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Linear Combination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93346" y="3278534"/>
            <a:ext cx="14602416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Creates a weighted sum of input features multiplied by their coefficients, similar to linear regression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4168826"/>
            <a:ext cx="1417587" cy="1701108"/>
            <a:chOff x="0" y="0"/>
            <a:chExt cx="1890116" cy="226814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890141" cy="2268093"/>
            </a:xfrm>
            <a:custGeom>
              <a:avLst/>
              <a:gdLst/>
              <a:ahLst/>
              <a:cxnLst/>
              <a:rect r="r" b="b" t="t" l="l"/>
              <a:pathLst>
                <a:path h="2268093" w="1890141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5" r="1" b="-57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693346" y="4442822"/>
            <a:ext cx="407209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Sigmoid Transformation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93346" y="4979641"/>
            <a:ext cx="14602416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Passes the linear combination through the sigmoid function to transform outputs into probabilities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238" y="5869934"/>
            <a:ext cx="1417587" cy="1701108"/>
            <a:chOff x="0" y="0"/>
            <a:chExt cx="1890116" cy="2268144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890141" cy="2268093"/>
            </a:xfrm>
            <a:custGeom>
              <a:avLst/>
              <a:gdLst/>
              <a:ahLst/>
              <a:cxnLst/>
              <a:rect r="r" b="b" t="t" l="l"/>
              <a:pathLst>
                <a:path h="2268093" w="1890141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5" r="1" b="-5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693346" y="6143920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Probability Output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93346" y="6680749"/>
            <a:ext cx="14602416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Generates a probability value between 0 and 1 representing the likelihood of the positive class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7571032"/>
            <a:ext cx="1417587" cy="1701108"/>
            <a:chOff x="0" y="0"/>
            <a:chExt cx="1890116" cy="2268144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890141" cy="2268093"/>
            </a:xfrm>
            <a:custGeom>
              <a:avLst/>
              <a:gdLst/>
              <a:ahLst/>
              <a:cxnLst/>
              <a:rect r="r" b="b" t="t" l="l"/>
              <a:pathLst>
                <a:path h="2268093" w="1890141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5" r="1" b="-57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693346" y="7845028"/>
            <a:ext cx="387697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Classification Decision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93346" y="8381848"/>
            <a:ext cx="14602416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Applies threshold (typically 0.5) to classify: if probability &gt; 0.5 → Class 1, otherwise → Class 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552582" y="1906486"/>
            <a:ext cx="9174956" cy="629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3875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Example: Medical Diagnosis Prediction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52582" y="2591695"/>
            <a:ext cx="2480672" cy="31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52582" y="3081490"/>
            <a:ext cx="10040836" cy="298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Predict whether a patient has a specific condition based on various medical measurements.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552582" y="3536004"/>
            <a:ext cx="4950914" cy="2063648"/>
            <a:chOff x="0" y="0"/>
            <a:chExt cx="6601219" cy="27515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01206" cy="2751582"/>
            </a:xfrm>
            <a:custGeom>
              <a:avLst/>
              <a:gdLst/>
              <a:ahLst/>
              <a:cxnLst/>
              <a:rect r="r" b="b" t="t" l="l"/>
              <a:pathLst>
                <a:path h="2751582" w="6601206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6561455" y="0"/>
                  </a:lnTo>
                  <a:cubicBezTo>
                    <a:pt x="6583426" y="0"/>
                    <a:pt x="6601206" y="17780"/>
                    <a:pt x="6601206" y="39751"/>
                  </a:cubicBezTo>
                  <a:lnTo>
                    <a:pt x="6601206" y="2711831"/>
                  </a:lnTo>
                  <a:cubicBezTo>
                    <a:pt x="6601206" y="2733802"/>
                    <a:pt x="6583426" y="2751582"/>
                    <a:pt x="6561455" y="2751582"/>
                  </a:cubicBezTo>
                  <a:lnTo>
                    <a:pt x="39751" y="2751582"/>
                  </a:lnTo>
                  <a:cubicBezTo>
                    <a:pt x="17780" y="2751582"/>
                    <a:pt x="0" y="2733802"/>
                    <a:pt x="0" y="2711831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750969" y="3734391"/>
            <a:ext cx="595312" cy="595312"/>
            <a:chOff x="0" y="0"/>
            <a:chExt cx="793750" cy="7937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93750" cy="793750"/>
            </a:xfrm>
            <a:custGeom>
              <a:avLst/>
              <a:gdLst/>
              <a:ahLst/>
              <a:cxnLst/>
              <a:rect r="r" b="b" t="t" l="l"/>
              <a:pathLst>
                <a:path h="793750" w="793750">
                  <a:moveTo>
                    <a:pt x="0" y="396875"/>
                  </a:moveTo>
                  <a:cubicBezTo>
                    <a:pt x="0" y="177673"/>
                    <a:pt x="177673" y="0"/>
                    <a:pt x="396875" y="0"/>
                  </a:cubicBezTo>
                  <a:cubicBezTo>
                    <a:pt x="616077" y="0"/>
                    <a:pt x="793750" y="177673"/>
                    <a:pt x="793750" y="396875"/>
                  </a:cubicBezTo>
                  <a:cubicBezTo>
                    <a:pt x="793750" y="616077"/>
                    <a:pt x="616077" y="793750"/>
                    <a:pt x="396875" y="793750"/>
                  </a:cubicBezTo>
                  <a:cubicBezTo>
                    <a:pt x="177673" y="793750"/>
                    <a:pt x="0" y="616077"/>
                    <a:pt x="0" y="396875"/>
                  </a:cubicBez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7914684" y="3898106"/>
            <a:ext cx="267891" cy="267891"/>
          </a:xfrm>
          <a:custGeom>
            <a:avLst/>
            <a:gdLst/>
            <a:ahLst/>
            <a:cxnLst/>
            <a:rect r="r" b="b" t="t" l="l"/>
            <a:pathLst>
              <a:path h="267891" w="267891">
                <a:moveTo>
                  <a:pt x="0" y="0"/>
                </a:moveTo>
                <a:lnTo>
                  <a:pt x="267891" y="0"/>
                </a:lnTo>
                <a:lnTo>
                  <a:pt x="267891" y="267891"/>
                </a:lnTo>
                <a:lnTo>
                  <a:pt x="0" y="2678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3447" r="0" b="-5345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750969" y="4468568"/>
            <a:ext cx="2480672" cy="31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Blood Test Results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50969" y="4833347"/>
            <a:ext cx="4554141" cy="56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Analyzes biomarker levels, cholesterol, and glucose concentrations.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642352" y="3536004"/>
            <a:ext cx="4951066" cy="2063648"/>
            <a:chOff x="0" y="0"/>
            <a:chExt cx="6601422" cy="27515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01460" cy="2751582"/>
            </a:xfrm>
            <a:custGeom>
              <a:avLst/>
              <a:gdLst/>
              <a:ahLst/>
              <a:cxnLst/>
              <a:rect r="r" b="b" t="t" l="l"/>
              <a:pathLst>
                <a:path h="2751582" w="6601460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6561709" y="0"/>
                  </a:lnTo>
                  <a:cubicBezTo>
                    <a:pt x="6583680" y="0"/>
                    <a:pt x="6601460" y="17780"/>
                    <a:pt x="6601460" y="39751"/>
                  </a:cubicBezTo>
                  <a:lnTo>
                    <a:pt x="6601460" y="2711831"/>
                  </a:lnTo>
                  <a:cubicBezTo>
                    <a:pt x="6601460" y="2733802"/>
                    <a:pt x="6583680" y="2751582"/>
                    <a:pt x="6561709" y="2751582"/>
                  </a:cubicBezTo>
                  <a:lnTo>
                    <a:pt x="39751" y="2751582"/>
                  </a:lnTo>
                  <a:cubicBezTo>
                    <a:pt x="17780" y="2751582"/>
                    <a:pt x="0" y="2733802"/>
                    <a:pt x="0" y="2711831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840738" y="3734391"/>
            <a:ext cx="595312" cy="595312"/>
            <a:chOff x="0" y="0"/>
            <a:chExt cx="793750" cy="7937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3750" cy="793750"/>
            </a:xfrm>
            <a:custGeom>
              <a:avLst/>
              <a:gdLst/>
              <a:ahLst/>
              <a:cxnLst/>
              <a:rect r="r" b="b" t="t" l="l"/>
              <a:pathLst>
                <a:path h="793750" w="793750">
                  <a:moveTo>
                    <a:pt x="0" y="396875"/>
                  </a:moveTo>
                  <a:cubicBezTo>
                    <a:pt x="0" y="177673"/>
                    <a:pt x="177673" y="0"/>
                    <a:pt x="396875" y="0"/>
                  </a:cubicBezTo>
                  <a:cubicBezTo>
                    <a:pt x="616077" y="0"/>
                    <a:pt x="793750" y="177673"/>
                    <a:pt x="793750" y="396875"/>
                  </a:cubicBezTo>
                  <a:cubicBezTo>
                    <a:pt x="793750" y="616077"/>
                    <a:pt x="616077" y="793750"/>
                    <a:pt x="396875" y="793750"/>
                  </a:cubicBezTo>
                  <a:cubicBezTo>
                    <a:pt x="177673" y="793750"/>
                    <a:pt x="0" y="616077"/>
                    <a:pt x="0" y="396875"/>
                  </a:cubicBez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13004454" y="3898106"/>
            <a:ext cx="267891" cy="267891"/>
          </a:xfrm>
          <a:custGeom>
            <a:avLst/>
            <a:gdLst/>
            <a:ahLst/>
            <a:cxnLst/>
            <a:rect r="r" b="b" t="t" l="l"/>
            <a:pathLst>
              <a:path h="267891" w="267891">
                <a:moveTo>
                  <a:pt x="0" y="0"/>
                </a:moveTo>
                <a:lnTo>
                  <a:pt x="267891" y="0"/>
                </a:lnTo>
                <a:lnTo>
                  <a:pt x="267891" y="267891"/>
                </a:lnTo>
                <a:lnTo>
                  <a:pt x="0" y="2678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840738" y="4468568"/>
            <a:ext cx="2480672" cy="31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Vital Signs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40738" y="4833347"/>
            <a:ext cx="4554293" cy="56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Evaluates blood pressure, heart rate, and oxygen saturation.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552582" y="5738517"/>
            <a:ext cx="10040836" cy="1793977"/>
            <a:chOff x="0" y="0"/>
            <a:chExt cx="13387781" cy="239196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387705" cy="2391918"/>
            </a:xfrm>
            <a:custGeom>
              <a:avLst/>
              <a:gdLst/>
              <a:ahLst/>
              <a:cxnLst/>
              <a:rect r="r" b="b" t="t" l="l"/>
              <a:pathLst>
                <a:path h="2391918" w="13387705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13348081" y="0"/>
                  </a:lnTo>
                  <a:cubicBezTo>
                    <a:pt x="13370052" y="0"/>
                    <a:pt x="13387705" y="17780"/>
                    <a:pt x="13387705" y="39624"/>
                  </a:cubicBezTo>
                  <a:lnTo>
                    <a:pt x="13387705" y="2352294"/>
                  </a:lnTo>
                  <a:cubicBezTo>
                    <a:pt x="13387705" y="2374265"/>
                    <a:pt x="13369925" y="2391918"/>
                    <a:pt x="13348081" y="2391918"/>
                  </a:cubicBezTo>
                  <a:lnTo>
                    <a:pt x="39624" y="2391918"/>
                  </a:lnTo>
                  <a:cubicBezTo>
                    <a:pt x="17653" y="2391918"/>
                    <a:pt x="0" y="2374138"/>
                    <a:pt x="0" y="235229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750969" y="5936904"/>
            <a:ext cx="595312" cy="595312"/>
            <a:chOff x="0" y="0"/>
            <a:chExt cx="793750" cy="7937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93750" cy="793750"/>
            </a:xfrm>
            <a:custGeom>
              <a:avLst/>
              <a:gdLst/>
              <a:ahLst/>
              <a:cxnLst/>
              <a:rect r="r" b="b" t="t" l="l"/>
              <a:pathLst>
                <a:path h="793750" w="793750">
                  <a:moveTo>
                    <a:pt x="0" y="396875"/>
                  </a:moveTo>
                  <a:cubicBezTo>
                    <a:pt x="0" y="177673"/>
                    <a:pt x="177673" y="0"/>
                    <a:pt x="396875" y="0"/>
                  </a:cubicBezTo>
                  <a:cubicBezTo>
                    <a:pt x="616077" y="0"/>
                    <a:pt x="793750" y="177673"/>
                    <a:pt x="793750" y="396875"/>
                  </a:cubicBezTo>
                  <a:cubicBezTo>
                    <a:pt x="793750" y="616077"/>
                    <a:pt x="616077" y="793750"/>
                    <a:pt x="396875" y="793750"/>
                  </a:cubicBezTo>
                  <a:cubicBezTo>
                    <a:pt x="177673" y="793750"/>
                    <a:pt x="0" y="616077"/>
                    <a:pt x="0" y="396875"/>
                  </a:cubicBez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7914684" y="6100610"/>
            <a:ext cx="267891" cy="267891"/>
          </a:xfrm>
          <a:custGeom>
            <a:avLst/>
            <a:gdLst/>
            <a:ahLst/>
            <a:cxnLst/>
            <a:rect r="r" b="b" t="t" l="l"/>
            <a:pathLst>
              <a:path h="267891" w="267891">
                <a:moveTo>
                  <a:pt x="0" y="0"/>
                </a:moveTo>
                <a:lnTo>
                  <a:pt x="267891" y="0"/>
                </a:lnTo>
                <a:lnTo>
                  <a:pt x="267891" y="267891"/>
                </a:lnTo>
                <a:lnTo>
                  <a:pt x="0" y="2678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7240" r="0" b="-1724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750969" y="6671072"/>
            <a:ext cx="2480672" cy="31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Patient History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750969" y="7035851"/>
            <a:ext cx="9644062" cy="298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Reviews clinical records, symptoms, and previous medical history.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552582" y="7688761"/>
            <a:ext cx="10040836" cy="682228"/>
            <a:chOff x="0" y="0"/>
            <a:chExt cx="13387781" cy="90963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387832" cy="909701"/>
            </a:xfrm>
            <a:custGeom>
              <a:avLst/>
              <a:gdLst/>
              <a:ahLst/>
              <a:cxnLst/>
              <a:rect r="r" b="b" t="t" l="l"/>
              <a:pathLst>
                <a:path h="909701" w="13387832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13348081" y="0"/>
                  </a:lnTo>
                  <a:cubicBezTo>
                    <a:pt x="13370052" y="0"/>
                    <a:pt x="13387832" y="17780"/>
                    <a:pt x="13387832" y="39751"/>
                  </a:cubicBezTo>
                  <a:lnTo>
                    <a:pt x="13387832" y="869950"/>
                  </a:lnTo>
                  <a:cubicBezTo>
                    <a:pt x="13387832" y="891921"/>
                    <a:pt x="13370052" y="909701"/>
                    <a:pt x="13348081" y="909701"/>
                  </a:cubicBezTo>
                  <a:lnTo>
                    <a:pt x="39751" y="909701"/>
                  </a:lnTo>
                  <a:cubicBezTo>
                    <a:pt x="17780" y="909701"/>
                    <a:pt x="0" y="891921"/>
                    <a:pt x="0" y="869950"/>
                  </a:cubicBezTo>
                  <a:close/>
                </a:path>
              </a:pathLst>
            </a:custGeom>
            <a:solidFill>
              <a:srgbClr val="BEF3E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750969" y="7963052"/>
            <a:ext cx="247945" cy="198387"/>
            <a:chOff x="0" y="0"/>
            <a:chExt cx="330594" cy="264516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330581" cy="264541"/>
            </a:xfrm>
            <a:custGeom>
              <a:avLst/>
              <a:gdLst/>
              <a:ahLst/>
              <a:cxnLst/>
              <a:rect r="r" b="b" t="t" l="l"/>
              <a:pathLst>
                <a:path h="264541" w="330581">
                  <a:moveTo>
                    <a:pt x="0" y="0"/>
                  </a:moveTo>
                  <a:lnTo>
                    <a:pt x="330581" y="0"/>
                  </a:lnTo>
                  <a:lnTo>
                    <a:pt x="330581" y="264541"/>
                  </a:lnTo>
                  <a:lnTo>
                    <a:pt x="0" y="264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75" r="-3" b="-46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8197301" y="7848600"/>
            <a:ext cx="9197731" cy="298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Example:</a:t>
            </a:r>
            <a:r>
              <a:rPr lang="en-US" sz="1562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Model outputs probability of 0.87 → Classified as "Disease Present" since 0.87 &gt; 0.5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29550" y="757390"/>
            <a:ext cx="6940448" cy="905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Decision Boundary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29550" y="2070497"/>
            <a:ext cx="4607566" cy="4013892"/>
            <a:chOff x="0" y="0"/>
            <a:chExt cx="6143422" cy="53518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43371" cy="5351907"/>
            </a:xfrm>
            <a:custGeom>
              <a:avLst/>
              <a:gdLst/>
              <a:ahLst/>
              <a:cxnLst/>
              <a:rect r="r" b="b" t="t" l="l"/>
              <a:pathLst>
                <a:path h="5351907" w="6143371">
                  <a:moveTo>
                    <a:pt x="0" y="55499"/>
                  </a:moveTo>
                  <a:cubicBezTo>
                    <a:pt x="0" y="24892"/>
                    <a:pt x="24892" y="0"/>
                    <a:pt x="55499" y="0"/>
                  </a:cubicBezTo>
                  <a:lnTo>
                    <a:pt x="6087872" y="0"/>
                  </a:lnTo>
                  <a:cubicBezTo>
                    <a:pt x="6118479" y="0"/>
                    <a:pt x="6143371" y="24892"/>
                    <a:pt x="6143371" y="55499"/>
                  </a:cubicBezTo>
                  <a:lnTo>
                    <a:pt x="6143371" y="5296408"/>
                  </a:lnTo>
                  <a:cubicBezTo>
                    <a:pt x="6143371" y="5327015"/>
                    <a:pt x="6118479" y="5351907"/>
                    <a:pt x="6087872" y="5351907"/>
                  </a:cubicBezTo>
                  <a:lnTo>
                    <a:pt x="55499" y="5351907"/>
                  </a:lnTo>
                  <a:cubicBezTo>
                    <a:pt x="24892" y="5351907"/>
                    <a:pt x="0" y="5327015"/>
                    <a:pt x="0" y="529640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107118" y="2348065"/>
            <a:ext cx="832847" cy="832847"/>
            <a:chOff x="0" y="0"/>
            <a:chExt cx="1110463" cy="11104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10488" cy="1110488"/>
            </a:xfrm>
            <a:custGeom>
              <a:avLst/>
              <a:gdLst/>
              <a:ahLst/>
              <a:cxnLst/>
              <a:rect r="r" b="b" t="t" l="l"/>
              <a:pathLst>
                <a:path h="1110488" w="1110488">
                  <a:moveTo>
                    <a:pt x="0" y="555244"/>
                  </a:moveTo>
                  <a:cubicBezTo>
                    <a:pt x="0" y="248539"/>
                    <a:pt x="248539" y="0"/>
                    <a:pt x="555244" y="0"/>
                  </a:cubicBezTo>
                  <a:cubicBezTo>
                    <a:pt x="861949" y="0"/>
                    <a:pt x="1110488" y="248539"/>
                    <a:pt x="1110488" y="555244"/>
                  </a:cubicBezTo>
                  <a:cubicBezTo>
                    <a:pt x="1110488" y="861949"/>
                    <a:pt x="861822" y="1110488"/>
                    <a:pt x="555244" y="1110488"/>
                  </a:cubicBezTo>
                  <a:cubicBezTo>
                    <a:pt x="248666" y="1110488"/>
                    <a:pt x="0" y="861822"/>
                    <a:pt x="0" y="555244"/>
                  </a:cubicBez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8336166" y="2576960"/>
            <a:ext cx="374752" cy="374752"/>
          </a:xfrm>
          <a:custGeom>
            <a:avLst/>
            <a:gdLst/>
            <a:ahLst/>
            <a:cxnLst/>
            <a:rect r="r" b="b" t="t" l="l"/>
            <a:pathLst>
              <a:path h="374752" w="374752">
                <a:moveTo>
                  <a:pt x="0" y="0"/>
                </a:moveTo>
                <a:lnTo>
                  <a:pt x="374751" y="0"/>
                </a:lnTo>
                <a:lnTo>
                  <a:pt x="374751" y="374752"/>
                </a:lnTo>
                <a:lnTo>
                  <a:pt x="0" y="374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50" r="0" b="-1247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107118" y="3443135"/>
            <a:ext cx="3470224" cy="44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Separation Surface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07118" y="3963743"/>
            <a:ext cx="4052440" cy="140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The line or hyperplane that separates different classes in feature space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708884" y="2070497"/>
            <a:ext cx="4607566" cy="4013892"/>
            <a:chOff x="0" y="0"/>
            <a:chExt cx="6143422" cy="53518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43371" cy="5351907"/>
            </a:xfrm>
            <a:custGeom>
              <a:avLst/>
              <a:gdLst/>
              <a:ahLst/>
              <a:cxnLst/>
              <a:rect r="r" b="b" t="t" l="l"/>
              <a:pathLst>
                <a:path h="5351907" w="6143371">
                  <a:moveTo>
                    <a:pt x="0" y="55499"/>
                  </a:moveTo>
                  <a:cubicBezTo>
                    <a:pt x="0" y="24892"/>
                    <a:pt x="24892" y="0"/>
                    <a:pt x="55499" y="0"/>
                  </a:cubicBezTo>
                  <a:lnTo>
                    <a:pt x="6087872" y="0"/>
                  </a:lnTo>
                  <a:cubicBezTo>
                    <a:pt x="6118479" y="0"/>
                    <a:pt x="6143371" y="24892"/>
                    <a:pt x="6143371" y="55499"/>
                  </a:cubicBezTo>
                  <a:lnTo>
                    <a:pt x="6143371" y="5296408"/>
                  </a:lnTo>
                  <a:cubicBezTo>
                    <a:pt x="6143371" y="5327015"/>
                    <a:pt x="6118479" y="5351907"/>
                    <a:pt x="6087872" y="5351907"/>
                  </a:cubicBezTo>
                  <a:lnTo>
                    <a:pt x="55499" y="5351907"/>
                  </a:lnTo>
                  <a:cubicBezTo>
                    <a:pt x="24892" y="5351907"/>
                    <a:pt x="0" y="5327015"/>
                    <a:pt x="0" y="529640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986442" y="2348065"/>
            <a:ext cx="832847" cy="832847"/>
            <a:chOff x="0" y="0"/>
            <a:chExt cx="1110463" cy="11104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0488" cy="1110488"/>
            </a:xfrm>
            <a:custGeom>
              <a:avLst/>
              <a:gdLst/>
              <a:ahLst/>
              <a:cxnLst/>
              <a:rect r="r" b="b" t="t" l="l"/>
              <a:pathLst>
                <a:path h="1110488" w="1110488">
                  <a:moveTo>
                    <a:pt x="0" y="555244"/>
                  </a:moveTo>
                  <a:cubicBezTo>
                    <a:pt x="0" y="248539"/>
                    <a:pt x="248539" y="0"/>
                    <a:pt x="555244" y="0"/>
                  </a:cubicBezTo>
                  <a:cubicBezTo>
                    <a:pt x="861949" y="0"/>
                    <a:pt x="1110488" y="248539"/>
                    <a:pt x="1110488" y="555244"/>
                  </a:cubicBezTo>
                  <a:cubicBezTo>
                    <a:pt x="1110488" y="861949"/>
                    <a:pt x="861822" y="1110488"/>
                    <a:pt x="555244" y="1110488"/>
                  </a:cubicBezTo>
                  <a:cubicBezTo>
                    <a:pt x="248666" y="1110488"/>
                    <a:pt x="0" y="861822"/>
                    <a:pt x="0" y="555244"/>
                  </a:cubicBez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13215490" y="2576960"/>
            <a:ext cx="374752" cy="374752"/>
          </a:xfrm>
          <a:custGeom>
            <a:avLst/>
            <a:gdLst/>
            <a:ahLst/>
            <a:cxnLst/>
            <a:rect r="r" b="b" t="t" l="l"/>
            <a:pathLst>
              <a:path h="374752" w="374752">
                <a:moveTo>
                  <a:pt x="0" y="0"/>
                </a:moveTo>
                <a:lnTo>
                  <a:pt x="374751" y="0"/>
                </a:lnTo>
                <a:lnTo>
                  <a:pt x="374751" y="374752"/>
                </a:lnTo>
                <a:lnTo>
                  <a:pt x="0" y="3747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751" r="0" b="-8748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986442" y="3443135"/>
            <a:ext cx="3470224" cy="44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Threshold Point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86442" y="3963743"/>
            <a:ext cx="4052440" cy="1843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Derived from where probability equals 0.5, creating the classification boundary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829550" y="6356147"/>
            <a:ext cx="9486900" cy="3135211"/>
            <a:chOff x="0" y="0"/>
            <a:chExt cx="12649200" cy="41802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649200" cy="4180332"/>
            </a:xfrm>
            <a:custGeom>
              <a:avLst/>
              <a:gdLst/>
              <a:ahLst/>
              <a:cxnLst/>
              <a:rect r="r" b="b" t="t" l="l"/>
              <a:pathLst>
                <a:path h="4180332" w="12649200">
                  <a:moveTo>
                    <a:pt x="0" y="55499"/>
                  </a:moveTo>
                  <a:cubicBezTo>
                    <a:pt x="0" y="24892"/>
                    <a:pt x="24892" y="0"/>
                    <a:pt x="55499" y="0"/>
                  </a:cubicBezTo>
                  <a:lnTo>
                    <a:pt x="12593701" y="0"/>
                  </a:lnTo>
                  <a:cubicBezTo>
                    <a:pt x="12624308" y="0"/>
                    <a:pt x="12649200" y="24892"/>
                    <a:pt x="12649200" y="55499"/>
                  </a:cubicBezTo>
                  <a:lnTo>
                    <a:pt x="12649200" y="4124833"/>
                  </a:lnTo>
                  <a:cubicBezTo>
                    <a:pt x="12649200" y="4155440"/>
                    <a:pt x="12624308" y="4180332"/>
                    <a:pt x="12593701" y="4180332"/>
                  </a:cubicBezTo>
                  <a:lnTo>
                    <a:pt x="55499" y="4180332"/>
                  </a:lnTo>
                  <a:cubicBezTo>
                    <a:pt x="24892" y="4180332"/>
                    <a:pt x="0" y="4155440"/>
                    <a:pt x="0" y="412483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107118" y="6633715"/>
            <a:ext cx="832847" cy="832847"/>
            <a:chOff x="0" y="0"/>
            <a:chExt cx="1110463" cy="111046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10488" cy="1110488"/>
            </a:xfrm>
            <a:custGeom>
              <a:avLst/>
              <a:gdLst/>
              <a:ahLst/>
              <a:cxnLst/>
              <a:rect r="r" b="b" t="t" l="l"/>
              <a:pathLst>
                <a:path h="1110488" w="1110488">
                  <a:moveTo>
                    <a:pt x="0" y="555244"/>
                  </a:moveTo>
                  <a:cubicBezTo>
                    <a:pt x="0" y="248539"/>
                    <a:pt x="248539" y="0"/>
                    <a:pt x="555244" y="0"/>
                  </a:cubicBezTo>
                  <a:cubicBezTo>
                    <a:pt x="861949" y="0"/>
                    <a:pt x="1110488" y="248539"/>
                    <a:pt x="1110488" y="555244"/>
                  </a:cubicBezTo>
                  <a:cubicBezTo>
                    <a:pt x="1110488" y="861949"/>
                    <a:pt x="861822" y="1110488"/>
                    <a:pt x="555244" y="1110488"/>
                  </a:cubicBezTo>
                  <a:cubicBezTo>
                    <a:pt x="248666" y="1110488"/>
                    <a:pt x="0" y="861822"/>
                    <a:pt x="0" y="555244"/>
                  </a:cubicBez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Freeform 27" id="27" descr="preencoded.png"/>
          <p:cNvSpPr/>
          <p:nvPr/>
        </p:nvSpPr>
        <p:spPr>
          <a:xfrm flipH="false" flipV="false" rot="0">
            <a:off x="8336166" y="6862610"/>
            <a:ext cx="374752" cy="374752"/>
          </a:xfrm>
          <a:custGeom>
            <a:avLst/>
            <a:gdLst/>
            <a:ahLst/>
            <a:cxnLst/>
            <a:rect r="r" b="b" t="t" l="l"/>
            <a:pathLst>
              <a:path h="374752" w="374752">
                <a:moveTo>
                  <a:pt x="0" y="0"/>
                </a:moveTo>
                <a:lnTo>
                  <a:pt x="374751" y="0"/>
                </a:lnTo>
                <a:lnTo>
                  <a:pt x="374751" y="374752"/>
                </a:lnTo>
                <a:lnTo>
                  <a:pt x="0" y="3747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250" t="0" r="-1247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8107118" y="7728795"/>
            <a:ext cx="3470224" cy="44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Dimensionality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07118" y="8249393"/>
            <a:ext cx="8931773" cy="96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Appears as a line in 2D, but becomes a hyperplane in higher-dimensional spaces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35536"/>
            <a:ext cx="11975306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Key Features of Logistic Regression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238" y="2407596"/>
            <a:ext cx="850554" cy="850554"/>
          </a:xfrm>
          <a:custGeom>
            <a:avLst/>
            <a:gdLst/>
            <a:ahLst/>
            <a:cxnLst/>
            <a:rect r="r" b="b" t="t" l="l"/>
            <a:pathLst>
              <a:path h="850554" w="850554">
                <a:moveTo>
                  <a:pt x="0" y="0"/>
                </a:moveTo>
                <a:lnTo>
                  <a:pt x="850554" y="0"/>
                </a:lnTo>
                <a:lnTo>
                  <a:pt x="850554" y="850554"/>
                </a:lnTo>
                <a:lnTo>
                  <a:pt x="0" y="850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555" t="0" r="-1055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2238" y="3602984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Probabilistic Output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139803"/>
            <a:ext cx="7974511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Provides interpretable probabilities for each prediction, not just binary classifications. This enables confidence assessment and threshold tuning.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321108" y="2407596"/>
            <a:ext cx="850554" cy="850554"/>
          </a:xfrm>
          <a:custGeom>
            <a:avLst/>
            <a:gdLst/>
            <a:ahLst/>
            <a:cxnLst/>
            <a:rect r="r" b="b" t="t" l="l"/>
            <a:pathLst>
              <a:path h="850554" w="850554">
                <a:moveTo>
                  <a:pt x="0" y="0"/>
                </a:moveTo>
                <a:lnTo>
                  <a:pt x="850554" y="0"/>
                </a:lnTo>
                <a:lnTo>
                  <a:pt x="850554" y="850554"/>
                </a:lnTo>
                <a:lnTo>
                  <a:pt x="0" y="8505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110" r="0" b="-111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321108" y="3602984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Interpretability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21108" y="4139803"/>
            <a:ext cx="7974654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Model coefficients reveal the direction and magnitude of each feature's influence on the outcome, making it highly transparent.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238" y="6153445"/>
            <a:ext cx="850554" cy="850554"/>
          </a:xfrm>
          <a:custGeom>
            <a:avLst/>
            <a:gdLst/>
            <a:ahLst/>
            <a:cxnLst/>
            <a:rect r="r" b="b" t="t" l="l"/>
            <a:pathLst>
              <a:path h="850554" w="850554">
                <a:moveTo>
                  <a:pt x="0" y="0"/>
                </a:moveTo>
                <a:lnTo>
                  <a:pt x="850554" y="0"/>
                </a:lnTo>
                <a:lnTo>
                  <a:pt x="850554" y="850554"/>
                </a:lnTo>
                <a:lnTo>
                  <a:pt x="0" y="8505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6110" r="0" b="-26111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92238" y="7348833"/>
            <a:ext cx="4347715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Computational Efficiency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7885662"/>
            <a:ext cx="7974511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Fast training and prediction times with minimal computational resources required, making it ideal for large datasets.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321108" y="6153445"/>
            <a:ext cx="850554" cy="850554"/>
          </a:xfrm>
          <a:custGeom>
            <a:avLst/>
            <a:gdLst/>
            <a:ahLst/>
            <a:cxnLst/>
            <a:rect r="r" b="b" t="t" l="l"/>
            <a:pathLst>
              <a:path h="850554" w="850554">
                <a:moveTo>
                  <a:pt x="0" y="0"/>
                </a:moveTo>
                <a:lnTo>
                  <a:pt x="850554" y="0"/>
                </a:lnTo>
                <a:lnTo>
                  <a:pt x="850554" y="850554"/>
                </a:lnTo>
                <a:lnTo>
                  <a:pt x="0" y="8505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222" r="0" b="-1222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321108" y="7348833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Model Versatility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21108" y="7885662"/>
            <a:ext cx="797465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Extensible to multinomial logistic regression for multi-class problems and ordinal variants for ordered categories.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261292"/>
            <a:ext cx="9034167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Applications &amp; Limitations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855987"/>
            <a:ext cx="4252912" cy="55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1C9770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604442"/>
            <a:ext cx="7805890" cy="3303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Medical diagnosis and disease prediction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Credit scoring and loan default prediction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Customer churn analysis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Email spam filtering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Fraud detection systems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Marketing campaign response prediction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9397" y="3855987"/>
            <a:ext cx="4252912" cy="55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93CB52"/>
                </a:solidFill>
                <a:latin typeface="DM Sans Bold"/>
                <a:ea typeface="DM Sans Bold"/>
                <a:cs typeface="DM Sans Bold"/>
                <a:sym typeface="DM Sans Bold"/>
              </a:rPr>
              <a:t>Limitations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397" y="4604442"/>
            <a:ext cx="7805890" cy="275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Assumes linearity between features and log-odds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Struggles with complex non-linear relationships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Sensitive to outliers in training data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Prone to overfitting without regularization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Requires sufficient training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DAHEBXuv6bI</dc:identifier>
  <dcterms:modified xsi:type="dcterms:W3CDTF">2011-08-01T06:04:30Z</dcterms:modified>
  <cp:revision>1</cp:revision>
  <dc:title>Logistic-Regression-Predicting-Probabilities-and-Classifying-Outcomes.pptx</dc:title>
</cp:coreProperties>
</file>